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Good morning judges! Today we present EcoLabel X, an enterprise AI platform that solves greenwashing and automates ESG audits in under 1.5 seconds.</a:t>
            </a:r>
          </a:p>
          <a:p/>
          <a:p>
            <a:r>
              <a:t>🖱️ WHAT TO CLICK:</a:t>
            </a:r>
          </a:p>
          <a:p>
            <a:r>
              <a:t>Click once to advance to Slide 2.</a:t>
            </a:r>
          </a:p>
          <a:p/>
          <a:p>
            <a:r>
              <a:t>⏸️ WHEN TO PAUSE:</a:t>
            </a:r>
          </a:p>
          <a:p>
            <a:r>
              <a:t>Pause 2 seconds after reading the title to let judges take in the branding.</a:t>
            </a:r>
          </a:p>
          <a:p/>
          <a:p>
            <a:r>
              <a:t>💡 WHAT JUDGES SHOULD NOTICE:</a:t>
            </a:r>
          </a:p>
          <a:p>
            <a:r>
              <a:t>Judges should notice the sleek Fortune 500 dark theme and clear product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Sustainability reporting is broken. Companies produce 100-page disclosures, auditors spend weeks checking claims, and greenwashing is at an all-time high.</a:t>
            </a:r>
          </a:p>
          <a:p/>
          <a:p>
            <a:r>
              <a:t>🖱️ WHAT TO CLICK:</a:t>
            </a:r>
          </a:p>
          <a:p>
            <a:r>
              <a:t>Click 4 times — one click per problem card.</a:t>
            </a:r>
          </a:p>
          <a:p/>
          <a:p>
            <a:r>
              <a:t>⏸️ WHEN TO PAUSE:</a:t>
            </a:r>
          </a:p>
          <a:p>
            <a:r>
              <a:t>Pause after revealing 'Regulatory Mandates' to emphasize urgency.</a:t>
            </a:r>
          </a:p>
          <a:p/>
          <a:p>
            <a:r>
              <a:t>💡 WHAT JUDGES SHOULD NOTICE:</a:t>
            </a:r>
          </a:p>
          <a:p>
            <a:r>
              <a:t>Judges will see that we understand the quantitative friction in corporate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EcoLabel X turns weeks of manual auditing into a 1.5-second automated workflow. Upload a PDF, and our 4 AI Agents verify claims and generate compliance reports.</a:t>
            </a:r>
          </a:p>
          <a:p/>
          <a:p>
            <a:r>
              <a:t>🖱️ WHAT TO CLICK:</a:t>
            </a:r>
          </a:p>
          <a:p>
            <a:r>
              <a:t>Click 4 times to reveal each solution pillar sequentially.</a:t>
            </a:r>
          </a:p>
          <a:p/>
          <a:p>
            <a:r>
              <a:t>⏸️ WHEN TO PAUSE:</a:t>
            </a:r>
          </a:p>
          <a:p>
            <a:r>
              <a:t>Pause after the 4th pillar to let the complete solution vision land.</a:t>
            </a:r>
          </a:p>
          <a:p/>
          <a:p>
            <a:r>
              <a:t>💡 WHAT JUDGES SHOULD NOTICE:</a:t>
            </a:r>
          </a:p>
          <a:p>
            <a:r>
              <a:t>Judges will notice end-to-end automation from PDF input to executive PDF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Here is our end-to-end execution flow. From raw PDF upload to text extraction, 4-agent parallel evaluation, and instant PDF report generation.</a:t>
            </a:r>
          </a:p>
          <a:p/>
          <a:p>
            <a:r>
              <a:t>🖱️ WHAT TO CLICK:</a:t>
            </a:r>
          </a:p>
          <a:p>
            <a:r>
              <a:t>Click 8 times — one step per click to build the pipeline progressively.</a:t>
            </a:r>
          </a:p>
          <a:p/>
          <a:p>
            <a:r>
              <a:t>⏸️ WHEN TO PAUSE:</a:t>
            </a:r>
          </a:p>
          <a:p>
            <a:r>
              <a:t>Pause after step 5 to explain the 4 AI Agents orchestration.</a:t>
            </a:r>
          </a:p>
          <a:p/>
          <a:p>
            <a:r>
              <a:t>💡 WHAT JUDGES SHOULD NOTICE:</a:t>
            </a:r>
          </a:p>
          <a:p>
            <a:r>
              <a:t>Judges will appreciate the clean, modular architecture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Our technical architecture connects Next.js 14 on the frontend to FastAPI on the backend, processing PDFs via PyPDF2 and Gemini 2.5 Flash in under 1.5 seconds.</a:t>
            </a:r>
          </a:p>
          <a:p/>
          <a:p>
            <a:r>
              <a:t>🖱️ WHAT TO CLICK:</a:t>
            </a:r>
          </a:p>
          <a:p>
            <a:r>
              <a:t>Click 6 times to reveal each architectural component block.</a:t>
            </a:r>
          </a:p>
          <a:p/>
          <a:p>
            <a:r>
              <a:t>⏸️ WHEN TO PAUSE:</a:t>
            </a:r>
          </a:p>
          <a:p>
            <a:r>
              <a:t>Pause on Gemini 2.5 Flash to highlight LLM reasoning combined with deterministic fallback rules.</a:t>
            </a:r>
          </a:p>
          <a:p/>
          <a:p>
            <a:r>
              <a:t>💡 WHAT JUDGES SHOULD NOTICE:</a:t>
            </a:r>
          </a:p>
          <a:p>
            <a:r>
              <a:t>Judges will observe technical rigor, fast async performance, and enterprise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EcoLabel X deploys four specialized AI agents that run concurrently on every uploaded document: Verification, Carbon, Compliance, and Risk.</a:t>
            </a:r>
          </a:p>
          <a:p/>
          <a:p>
            <a:r>
              <a:t>🖱️ WHAT TO CLICK:</a:t>
            </a:r>
          </a:p>
          <a:p>
            <a:r>
              <a:t>Click 4 times — reveal one agent card per click.</a:t>
            </a:r>
          </a:p>
          <a:p/>
          <a:p>
            <a:r>
              <a:t>⏸️ WHEN TO PAUSE:</a:t>
            </a:r>
          </a:p>
          <a:p>
            <a:r>
              <a:t>Pause after revealing all 4 agents to summarize their synergy.</a:t>
            </a:r>
          </a:p>
          <a:p/>
          <a:p>
            <a:r>
              <a:t>💡 WHAT JUDGES SHOULD NOTICE:</a:t>
            </a:r>
          </a:p>
          <a:p>
            <a:r>
              <a:t>Judges will notice multi-agent architecture handling distinct domain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The Verification Agent analyzes exact claim quotes, page references, and assigns confidence scores from Verified to Under Review.</a:t>
            </a:r>
          </a:p>
          <a:p/>
          <a:p>
            <a:r>
              <a:t>🖱️ WHAT TO CLICK:</a:t>
            </a:r>
          </a:p>
          <a:p>
            <a:r>
              <a:t>Click 4 times to reveal each section of the Verification Agent deep-dive.</a:t>
            </a:r>
          </a:p>
          <a:p/>
          <a:p>
            <a:r>
              <a:t>⏸️ WHEN TO PAUSE:</a:t>
            </a:r>
          </a:p>
          <a:p>
            <a:r>
              <a:t>Pause on Status Metrics to explain confidence thresholds.</a:t>
            </a:r>
          </a:p>
          <a:p/>
          <a:p>
            <a:r>
              <a:t>💡 WHAT JUDGES SHOULD NOTICE:</a:t>
            </a:r>
          </a:p>
          <a:p>
            <a:r>
              <a:t>Judges will note rigorous evidence-backed verification rather than simple sentiment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Our Carbon Agent parses Scope 1 direct, Scope 2 energy, and Scope 3 value chain disclosures, computing total kilotonnes of CO2e automatically.</a:t>
            </a:r>
          </a:p>
          <a:p/>
          <a:p>
            <a:r>
              <a:t>🖱️ WHAT TO CLICK:</a:t>
            </a:r>
          </a:p>
          <a:p>
            <a:r>
              <a:t>Click 4 times — one per scope and the YoY intensity calculator.</a:t>
            </a:r>
          </a:p>
          <a:p/>
          <a:p>
            <a:r>
              <a:t>⏸️ WHEN TO PAUSE:</a:t>
            </a:r>
          </a:p>
          <a:p>
            <a:r>
              <a:t>Pause on Scope 3 to highlight value chain calculation complexity.</a:t>
            </a:r>
          </a:p>
          <a:p/>
          <a:p>
            <a:r>
              <a:t>💡 WHAT JUDGES SHOULD NOTICE:</a:t>
            </a:r>
          </a:p>
          <a:p>
            <a:r>
              <a:t>Judges will appreciate automated GHG Protocol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The Compliance Agent monitors EU ESPR and FTC Green Guide requirements, generating an Audit Compliance Index score to prevent legal exposure.</a:t>
            </a:r>
          </a:p>
          <a:p/>
          <a:p>
            <a:r>
              <a:t>🖱️ WHAT TO CLICK:</a:t>
            </a:r>
          </a:p>
          <a:p>
            <a:r>
              <a:t>Click 4 times to reveal each compliance check module.</a:t>
            </a:r>
          </a:p>
          <a:p/>
          <a:p>
            <a:r>
              <a:t>⏸️ WHEN TO PAUSE:</a:t>
            </a:r>
          </a:p>
          <a:p>
            <a:r>
              <a:t>Pause on Audit Compliance Index to explain compliance readiness scoring.</a:t>
            </a:r>
          </a:p>
          <a:p/>
          <a:p>
            <a:r>
              <a:t>💡 WHAT JUDGES SHOULD NOTICE:</a:t>
            </a:r>
          </a:p>
          <a:p>
            <a:r>
              <a:t>Judges will see immediate real-world regulatory utility for enterprise risk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Our Risk Agent exposes greenwashing by flagging vague terms, missing baseline years, and unbacked claims, producing an actionable risk score.</a:t>
            </a:r>
          </a:p>
          <a:p/>
          <a:p>
            <a:r>
              <a:t>🖱️ WHAT TO CLICK:</a:t>
            </a:r>
          </a:p>
          <a:p>
            <a:r>
              <a:t>Click 4 times — one per risk component.</a:t>
            </a:r>
          </a:p>
          <a:p/>
          <a:p>
            <a:r>
              <a:t>⏸️ WHEN TO PAUSE:</a:t>
            </a:r>
          </a:p>
          <a:p>
            <a:r>
              <a:t>Pause on Vague Term Detection to give examples like '100% eco-friendly'.</a:t>
            </a:r>
          </a:p>
          <a:p/>
          <a:p>
            <a:r>
              <a:t>💡 WHAT JUDGES SHOULD NOTICE:</a:t>
            </a:r>
          </a:p>
          <a:p>
            <a:r>
              <a:t>Judges will recognize the anti-greenwashing core of our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The Overview Dashboard provides executive visibility — displaying EcoScore, Carbon Footprint, active AI agents, and single-click PDF upload.</a:t>
            </a:r>
          </a:p>
          <a:p/>
          <a:p>
            <a:r>
              <a:t>🖱️ WHAT TO CLICK:</a:t>
            </a:r>
          </a:p>
          <a:p>
            <a:r>
              <a:t>Click 4 times to reveal each UI widget zone.</a:t>
            </a:r>
          </a:p>
          <a:p/>
          <a:p>
            <a:r>
              <a:t>⏸️ WHEN TO PAUSE:</a:t>
            </a:r>
          </a:p>
          <a:p>
            <a:r>
              <a:t>Pause after revealing all 4 zones to showcase design polish.</a:t>
            </a:r>
          </a:p>
          <a:p/>
          <a:p>
            <a:r>
              <a:t>💡 WHAT JUDGES SHOULD NOTICE:</a:t>
            </a:r>
          </a:p>
          <a:p>
            <a:r>
              <a:t>Judges will notice the clean glassmorphic UI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In the Products Module, EcoLabel X automatically extracts individual product SKUs, assigns carbon footprint metrics, and tracks verification status.</a:t>
            </a:r>
          </a:p>
          <a:p/>
          <a:p>
            <a:r>
              <a:t>🖱️ WHAT TO CLICK:</a:t>
            </a:r>
          </a:p>
          <a:p>
            <a:r>
              <a:t>Click 4 times to reveal product extraction steps.</a:t>
            </a:r>
          </a:p>
          <a:p/>
          <a:p>
            <a:r>
              <a:t>⏸️ WHEN TO PAUSE:</a:t>
            </a:r>
          </a:p>
          <a:p>
            <a:r>
              <a:t>Pause on Carbon Impact to emphasize item-level ESG granular tracking.</a:t>
            </a:r>
          </a:p>
          <a:p/>
          <a:p>
            <a:r>
              <a:t>💡 WHAT JUDGES SHOULD NOTICE:</a:t>
            </a:r>
          </a:p>
          <a:p>
            <a:r>
              <a:t>Judges will see how ESG data connects to physical product SKUs.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Our Claim Detector extracts exact text quotes from disclosures and pinpoints their exact page number for instant audit verification.</a:t>
            </a:r>
          </a:p>
          <a:p/>
          <a:p>
            <a:r>
              <a:t>🖱️ WHAT TO CLICK:</a:t>
            </a:r>
          </a:p>
          <a:p>
            <a:r>
              <a:t>Click 4 times — one per claim extraction stage.</a:t>
            </a:r>
          </a:p>
          <a:p/>
          <a:p>
            <a:r>
              <a:t>⏸️ WHEN TO PAUSE:</a:t>
            </a:r>
          </a:p>
          <a:p>
            <a:r>
              <a:t>Pause on Page Number Mapping to highlight audit traceability.</a:t>
            </a:r>
          </a:p>
          <a:p/>
          <a:p>
            <a:r>
              <a:t>💡 WHAT JUDGES SHOULD NOTICE:</a:t>
            </a:r>
          </a:p>
          <a:p>
            <a:r>
              <a:t>Judges will note exact page traceability for corporate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The Evidence Verifier validates claims against ISO standards and provides clear written rationales explaining why a claim passed or failed.</a:t>
            </a:r>
          </a:p>
          <a:p/>
          <a:p>
            <a:r>
              <a:t>🖱️ WHAT TO CLICK:</a:t>
            </a:r>
          </a:p>
          <a:p>
            <a:r>
              <a:t>Click 4 times to reveal evidence verification flow.</a:t>
            </a:r>
          </a:p>
          <a:p/>
          <a:p>
            <a:r>
              <a:t>⏸️ WHEN TO PAUSE:</a:t>
            </a:r>
          </a:p>
          <a:p>
            <a:r>
              <a:t>Pause on Rationale Generation to explain explainable AI logic.</a:t>
            </a:r>
          </a:p>
          <a:p/>
          <a:p>
            <a:r>
              <a:t>💡 WHAT JUDGES SHOULD NOTICE:</a:t>
            </a:r>
          </a:p>
          <a:p>
            <a:r>
              <a:t>Judges will appreciate transparent, explainable AI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The Greenwashing Analyzer categorizes overall document risk, pinpoints missing evidence, and provides concrete mitigation steps.</a:t>
            </a:r>
          </a:p>
          <a:p/>
          <a:p>
            <a:r>
              <a:t>🖱️ WHAT TO CLICK:</a:t>
            </a:r>
          </a:p>
          <a:p>
            <a:r>
              <a:t>Click 4 times to reveal risk analyzer components.</a:t>
            </a:r>
          </a:p>
          <a:p/>
          <a:p>
            <a:r>
              <a:t>⏸️ WHEN TO PAUSE:</a:t>
            </a:r>
          </a:p>
          <a:p>
            <a:r>
              <a:t>Pause on Missing Evidence List to show how missing proof is detected.</a:t>
            </a:r>
          </a:p>
          <a:p/>
          <a:p>
            <a:r>
              <a:t>💡 WHAT JUDGES SHOULD NOTICE:</a:t>
            </a:r>
          </a:p>
          <a:p>
            <a:r>
              <a:t>Judges will see actionable risk mitigation for enterprise leaders.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On the Carbon Dashboard, users explore interactive Scope 1, 2, and 3 emissions breakdowns and monitor carbon reduction progress.</a:t>
            </a:r>
          </a:p>
          <a:p/>
          <a:p>
            <a:r>
              <a:t>🖱️ WHAT TO CLICK:</a:t>
            </a:r>
          </a:p>
          <a:p>
            <a:r>
              <a:t>Click 4 times — reveal each emission scope component.</a:t>
            </a:r>
          </a:p>
          <a:p/>
          <a:p>
            <a:r>
              <a:t>⏸️ WHEN TO PAUSE:</a:t>
            </a:r>
          </a:p>
          <a:p>
            <a:r>
              <a:t>Pause after all 4 cards appear to highlight full GHG scope coverage.</a:t>
            </a:r>
          </a:p>
          <a:p/>
          <a:p>
            <a:r>
              <a:t>💡 WHAT JUDGES SHOULD NOTICE:</a:t>
            </a:r>
          </a:p>
          <a:p>
            <a:r>
              <a:t>Judges will notice comprehensive carbon accounting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Our Analytics Module calculates claim category distributions and computes an Audit Compliance Index score for regulatory readiness.</a:t>
            </a:r>
          </a:p>
          <a:p/>
          <a:p>
            <a:r>
              <a:t>🖱️ WHAT TO CLICK:</a:t>
            </a:r>
          </a:p>
          <a:p>
            <a:r>
              <a:t>Click 4 times to build the analytics view.</a:t>
            </a:r>
          </a:p>
          <a:p/>
          <a:p>
            <a:r>
              <a:t>⏸️ WHEN TO PAUSE:</a:t>
            </a:r>
          </a:p>
          <a:p>
            <a:r>
              <a:t>Pause on Audit Compliance Index to explain compliance scoring logic.</a:t>
            </a:r>
          </a:p>
          <a:p/>
          <a:p>
            <a:r>
              <a:t>💡 WHAT JUDGES SHOULD NOTICE:</a:t>
            </a:r>
          </a:p>
          <a:p>
            <a:r>
              <a:t>Judges will observe high-level executive analytics paired with granular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The Eco Labels Registry automatically detects third-party certifications (ISO 14064, FSC, RE100, EU Organic) from disclosures, verifying validity and page excerpts.</a:t>
            </a:r>
          </a:p>
          <a:p/>
          <a:p>
            <a:r>
              <a:t>🖱️ WHAT TO CLICK:</a:t>
            </a:r>
          </a:p>
          <a:p>
            <a:r>
              <a:t>Click 4 times — one per eco label category.</a:t>
            </a:r>
          </a:p>
          <a:p/>
          <a:p>
            <a:r>
              <a:t>⏸️ WHEN TO PAUSE:</a:t>
            </a:r>
          </a:p>
          <a:p>
            <a:r>
              <a:t>Pause on ISO 14064 to explain GHG verification standard matching.</a:t>
            </a:r>
          </a:p>
          <a:p/>
          <a:p>
            <a:r>
              <a:t>💡 WHAT JUDGES SHOULD NOTICE:</a:t>
            </a:r>
          </a:p>
          <a:p>
            <a:r>
              <a:t>Judges will see how certification detection eliminates manual registry searching.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With one click on 'Download PDF', EcoLabel X exports a publication-ready A4 executive audit document complete with letterhead, scorecards, and auditor sign-off.</a:t>
            </a:r>
          </a:p>
          <a:p/>
          <a:p>
            <a:r>
              <a:t>🖱️ WHAT TO CLICK:</a:t>
            </a:r>
          </a:p>
          <a:p>
            <a:r>
              <a:t>Click 4 times to reveal PDF report sections.</a:t>
            </a:r>
          </a:p>
          <a:p/>
          <a:p>
            <a:r>
              <a:t>⏸️ WHEN TO PAUSE:</a:t>
            </a:r>
          </a:p>
          <a:p>
            <a:r>
              <a:t>Pause after all 4 cards appear to emphasize PDF export polish.</a:t>
            </a:r>
          </a:p>
          <a:p/>
          <a:p>
            <a:r>
              <a:t>💡 WHAT JUDGES SHOULD NOTICE:</a:t>
            </a:r>
          </a:p>
          <a:p>
            <a:r>
              <a:t>Judges will see an end-to-end usable product that delivers a tangible PDF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Our technology stack leverages Next.js 14, FastAPI, Python, PyPDF2, and Google Gemini 2.5 Flash API for high-speed, enterprise-grade AI execution.</a:t>
            </a:r>
          </a:p>
          <a:p/>
          <a:p>
            <a:r>
              <a:t>🖱️ WHAT TO CLICK:</a:t>
            </a:r>
          </a:p>
          <a:p>
            <a:r>
              <a:t>Click 4 times — one per technology pillar.</a:t>
            </a:r>
          </a:p>
          <a:p/>
          <a:p>
            <a:r>
              <a:t>⏸️ WHEN TO PAUSE:</a:t>
            </a:r>
          </a:p>
          <a:p>
            <a:r>
              <a:t>Pause on Gemini 2.5 Flash to highlight LLM integration.</a:t>
            </a:r>
          </a:p>
          <a:p/>
          <a:p>
            <a:r>
              <a:t>💡 WHAT JUDGES SHOULD NOTICE:</a:t>
            </a:r>
          </a:p>
          <a:p>
            <a:r>
              <a:t>Judges will recognize production-ready, modern open-source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What makes EcoLabel X unique is sub-2-second speed, 4-agent parallel evaluation, 100% page-traceable evidence, and instant executive PDF generation.</a:t>
            </a:r>
          </a:p>
          <a:p/>
          <a:p>
            <a:r>
              <a:t>🖱️ WHAT TO CLICK:</a:t>
            </a:r>
          </a:p>
          <a:p>
            <a:r>
              <a:t>Click 4 times to reveal key innovations.</a:t>
            </a:r>
          </a:p>
          <a:p/>
          <a:p>
            <a:r>
              <a:t>⏸️ WHEN TO PAUSE:</a:t>
            </a:r>
          </a:p>
          <a:p>
            <a:r>
              <a:t>Pause on Evidence-Backed Scoring to reinforce trust.</a:t>
            </a:r>
          </a:p>
          <a:p/>
          <a:p>
            <a:r>
              <a:t>💡 WHAT JUDGES SHOULD NOTICE:</a:t>
            </a:r>
          </a:p>
          <a:p>
            <a:r>
              <a:t>Judges will see clear differentiation from simple chatbots or basic scanners.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Our future roadmap includes OCR for scanned PDF disclosures, multi-language support, live regulatory feeds, and industry peer benchmarking.</a:t>
            </a:r>
          </a:p>
          <a:p/>
          <a:p>
            <a:r>
              <a:t>🖱️ WHAT TO CLICK:</a:t>
            </a:r>
          </a:p>
          <a:p>
            <a:r>
              <a:t>Click 4 times — reveal each roadmap item.</a:t>
            </a:r>
          </a:p>
          <a:p/>
          <a:p>
            <a:r>
              <a:t>⏸️ WHEN TO PAUSE:</a:t>
            </a:r>
          </a:p>
          <a:p>
            <a:r>
              <a:t>Pause on Multi-Language Support to mention global ESG expansion.</a:t>
            </a:r>
          </a:p>
          <a:p/>
          <a:p>
            <a:r>
              <a:t>💡 WHAT JUDGES SHOULD NOTICE:</a:t>
            </a:r>
          </a:p>
          <a:p>
            <a:r>
              <a:t>Judges will appreciate a visionary yet practical growth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Let us demonstrate EcoLabel X live. Watch as we upload a PDF, run 4 AI agents in &lt;1.5s, explore dashboard metrics, and download the executive audit report.</a:t>
            </a:r>
          </a:p>
          <a:p/>
          <a:p>
            <a:r>
              <a:t>🖱️ WHAT TO CLICK:</a:t>
            </a:r>
          </a:p>
          <a:p>
            <a:r>
              <a:t>Click 4 times as you transition to the live application demo.</a:t>
            </a:r>
          </a:p>
          <a:p/>
          <a:p>
            <a:r>
              <a:t>⏸️ WHEN TO PAUSE:</a:t>
            </a:r>
          </a:p>
          <a:p>
            <a:r>
              <a:t>Pause on Step 4 before switching to http://localhost:3000.</a:t>
            </a:r>
          </a:p>
          <a:p/>
          <a:p>
            <a:r>
              <a:t>💡 WHAT JUDGES SHOULD NOTICE:</a:t>
            </a:r>
          </a:p>
          <a:p>
            <a:r>
              <a:t>Judges will experience an impressive, seamless live product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EcoLabel X delivers measurable ROI: 95% audit time savings, 100% page-level transparency, and zero regulatory greenwashing penalties.</a:t>
            </a:r>
          </a:p>
          <a:p/>
          <a:p>
            <a:r>
              <a:t>🖱️ WHAT TO CLICK:</a:t>
            </a:r>
          </a:p>
          <a:p>
            <a:r>
              <a:t>Click 4 times to reveal each impact metric.</a:t>
            </a:r>
          </a:p>
          <a:p/>
          <a:p>
            <a:r>
              <a:t>⏸️ WHEN TO PAUSE:</a:t>
            </a:r>
          </a:p>
          <a:p>
            <a:r>
              <a:t>Pause on 95% Audit Time Reduction to leave a lasting quantitative metric.</a:t>
            </a:r>
          </a:p>
          <a:p/>
          <a:p>
            <a:r>
              <a:t>💡 WHAT JUDGES SHOULD NOTICE:</a:t>
            </a:r>
          </a:p>
          <a:p>
            <a:r>
              <a:t>Judges will see tangible business ROI and real environmental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WHAT TO SAY:</a:t>
            </a:r>
          </a:p>
          <a:p>
            <a:r>
              <a:t>Thank you judges for your time! We are now open for your questions.</a:t>
            </a:r>
          </a:p>
          <a:p/>
          <a:p>
            <a:r>
              <a:t>🖱️ WHAT TO CLICK:</a:t>
            </a:r>
          </a:p>
          <a:p>
            <a:r>
              <a:t>No further clicks needed. Leave slide open for Q&amp;A.</a:t>
            </a:r>
          </a:p>
          <a:p/>
          <a:p>
            <a:r>
              <a:t>⏸️ WHEN TO PAUSE:</a:t>
            </a:r>
          </a:p>
          <a:p>
            <a:r>
              <a:t>Pause and look at the judges confidently.</a:t>
            </a:r>
          </a:p>
          <a:p/>
          <a:p>
            <a:r>
              <a:t>💡 WHAT JUDGES SHOULD NOTICE:</a:t>
            </a:r>
          </a:p>
          <a:p>
            <a:r>
              <a:t>Judges can view live app URL and GitHub repository links while asking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5400" b="1">
                <a:solidFill>
                  <a:srgbClr val="00FFAA"/>
                </a:solidFill>
              </a:defRPr>
            </a:pPr>
            <a:r>
              <a:t>EcoLabel X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00F0FF"/>
                </a:solidFill>
              </a:defRPr>
            </a:pPr>
            <a:r>
              <a:t>AI-Powered Sustainability Intelligence Platform</a:t>
            </a:r>
          </a:p>
          <a:p>
            <a:pPr algn="ctr"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Enterprise Anti-Greenwashing Audit &amp; Carbon Accounting Engine</a:t>
            </a:r>
          </a:p>
          <a:p>
            <a:pPr algn="ctr">
              <a:spcBef>
                <a:spcPts val="3600"/>
              </a:spcBef>
              <a:defRPr sz="1100" b="1">
                <a:solidFill>
                  <a:srgbClr val="9B59FF"/>
                </a:solidFill>
              </a:defRPr>
            </a:pPr>
            <a:r>
              <a:t>HACKATHON FINALIST PRESENTATION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02  •  MARKET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Core Problem in Sustainability Disclosures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❌ Massive Volume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Companies produce 100+ page ESG PDFs filled with complex tables and unstructured claims.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035040" y="1645920"/>
            <a:ext cx="50292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❌ Manual Friction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Compliance officers take weeks to manually cross-reference claims against ISO standards.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3931920"/>
            <a:ext cx="50292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❌ Surge in Greenwashing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Over 40% of environmental claims online and in disclosures are vague or unsubstantiated.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035040" y="3931920"/>
            <a:ext cx="50292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❌ Regulatory Mandates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Strict enforcement from EU ESPR &amp; FTC Green Guides requires quantitative evidence.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03  • 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Introducing EcoLabel X: Instant ESG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One-Click PDF Upload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Parses multi-page ESG disclosures in seconds.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383280" y="1645920"/>
            <a:ext cx="2468880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AI Claim Extraction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Identifies exact quotes, page numbers, and keywords.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6035040" y="1645920"/>
            <a:ext cx="2468880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4-Agent AI Network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Verification, Carbon, Compliance, and Risk agents run in parallel.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8686800" y="1645920"/>
            <a:ext cx="2468880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Audit-Ready Reports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Generates publication-ready executive PDF audit reports.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04  • 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8-Stage Pipeline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Upload PDF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Drag &amp; drop report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383280" y="164592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PDF Processing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PyPDF2 text parsing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6035040" y="164592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Text Extraction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Clean structure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8686800" y="164592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Claim Detection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Regex &amp; NLP tags</a:t>
            </a:r>
          </a:p>
        </p:txBody>
      </p:sp>
      <p:sp>
        <p:nvSpPr>
          <p:cNvPr id="808" name="Rounded Rectangle 807"/>
          <p:cNvSpPr/>
          <p:nvPr/>
        </p:nvSpPr>
        <p:spPr>
          <a:xfrm>
            <a:off x="731520" y="393192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4 AI Agents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Parallel analysis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3383280" y="393192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Results Engine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Score calculation</a:t>
            </a:r>
          </a:p>
        </p:txBody>
      </p:sp>
      <p:sp>
        <p:nvSpPr>
          <p:cNvPr id="1210" name="Rounded Rectangle 1209"/>
          <p:cNvSpPr/>
          <p:nvPr/>
        </p:nvSpPr>
        <p:spPr>
          <a:xfrm>
            <a:off x="6035040" y="393192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7. Dashboard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Live visual data</a:t>
            </a:r>
          </a:p>
        </p:txBody>
      </p:sp>
      <p:sp>
        <p:nvSpPr>
          <p:cNvPr id="1411" name="Rounded Rectangle 1410"/>
          <p:cNvSpPr/>
          <p:nvPr/>
        </p:nvSpPr>
        <p:spPr>
          <a:xfrm>
            <a:off x="8686800" y="393192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8. Audit Report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Executive PDF export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908" restart="whenNotActive" fill="hold" evt="onNext" nodeType="mainSeq">
                <p:childTnLst>
                  <p:set>
                    <p:cb>
                      <p:cBhvr>
                        <p:cTn id="1008" dur="1" fill="hold">
                          <p:stCondLst>
                            <p:cond delay="0"/>
                          </p:stCondLst>
                        </p:cTn>
                        <p:tgtEl>
                          <p:spTarget spid="8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1109" restart="whenNotActive" fill="hold" evt="onNext" nodeType="mainSeq">
                <p:childTnLst>
                  <p:set>
                    <p:cb>
                      <p:cBhvr>
                        <p:cTn id="1209" dur="1" fill="hold">
                          <p:stCondLst>
                            <p:cond delay="0"/>
                          </p:stCondLst>
                        </p:cTn>
                        <p:tgtEl>
                          <p:spTarget spid="10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1310" restart="whenNotActive" fill="hold" evt="onNext" nodeType="mainSeq">
                <p:childTnLst>
                  <p:set>
                    <p:cb>
                      <p:cBhvr>
                        <p:cTn id="1410" dur="1" fill="hold">
                          <p:stCondLst>
                            <p:cond delay="0"/>
                          </p:stCondLst>
                        </p:cTn>
                        <p:tgtEl>
                          <p:spTarget spid="12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1511" restart="whenNotActive" fill="hold" evt="onNext" nodeType="mainSeq">
                <p:childTnLst>
                  <p:set>
                    <p:cb>
                      <p:cBhvr>
                        <p:cTn id="1611" dur="1" fill="hold">
                          <p:stCondLst>
                            <p:cond delay="0"/>
                          </p:stCondLst>
                        </p:cTn>
                        <p:tgtEl>
                          <p:spTarget spid="14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05  • 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High-Performance 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Next.js 14 Web App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React, TypeScript, Glassmorphism UI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FastAPI Backend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Python 3.10, Uvicorn Async Server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PyPDF2 Text Engine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Raw PDF structure &amp; table reader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 Gemini 2.5 Flash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LLM reasoning + ISO 14021 rules</a:t>
            </a:r>
          </a:p>
        </p:txBody>
      </p:sp>
      <p:sp>
        <p:nvSpPr>
          <p:cNvPr id="808" name="Rounded Rectangle 807"/>
          <p:cNvSpPr/>
          <p:nvPr/>
        </p:nvSpPr>
        <p:spPr>
          <a:xfrm>
            <a:off x="4389120" y="4023360"/>
            <a:ext cx="33832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Carbon &amp; Risk Calculators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Scope 1-3 &amp; Trust Score matrix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8046720" y="4023360"/>
            <a:ext cx="33832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Executive PDF Generator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Publication-ready A4 exporter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908" restart="whenNotActive" fill="hold" evt="onNext" nodeType="mainSeq">
                <p:childTnLst>
                  <p:set>
                    <p:cb>
                      <p:cBhvr>
                        <p:cTn id="1008" dur="1" fill="hold">
                          <p:stCondLst>
                            <p:cond delay="0"/>
                          </p:stCondLst>
                        </p:cTn>
                        <p:tgtEl>
                          <p:spTarget spid="8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1109" restart="whenNotActive" fill="hold" evt="onNext" nodeType="mainSeq">
                <p:childTnLst>
                  <p:set>
                    <p:cb>
                      <p:cBhvr>
                        <p:cTn id="1209" dur="1" fill="hold">
                          <p:stCondLst>
                            <p:cond delay="0"/>
                          </p:stCondLst>
                        </p:cTn>
                        <p:tgtEl>
                          <p:spTarget spid="10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06  •  AI CORE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Multi-Agent Orchestration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🤖 Verification Agent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Cross-references 400+ certification databases &amp; ISO standards.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035040" y="1645920"/>
            <a:ext cx="50292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🤖 Carbon Agent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Scope 1, 2 &amp; 3 lifecycle carbon accounting engine.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3931920"/>
            <a:ext cx="50292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🤖 Compliance Agent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EU ESPR &amp; FTC Green Guide regulatory readiness tracker.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035040" y="3931920"/>
            <a:ext cx="50292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🤖 Risk Agent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Detects vague, misleading, and unsubstantiated claims.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07  •  AGENT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Verification Agent: ISO &amp; Database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Purpose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Cross-references disclosures against ISO 14021 &amp; certification registries.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Identifies claim -&gt; Extracts evidence -&gt; Matches issuer -&gt; Assigns status.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Status Metrics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Verified (Confidence &gt; 75%) | Under Review (50-75%) | Unverified (&lt;50%).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Output Example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ISO 14064 GHG Verified (TÜV SÜD) -&gt; Verified (Page 2).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08  •  AGENT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Carbon Agent: Scope 1, 2 &amp; 3 Accounting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Scope 1: Direct Operations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Onsite manufacturing, stationary combustion, fleet operations.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Scope 2: Energy &amp; Electricity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Purchased electricity, steam, facility heating &amp; cooling.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Scope 3: Value Chain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Raw material procurement, freight distribution, end-of-life.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731520" y="4023360"/>
            <a:ext cx="106984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YoY Intensity Reductions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Calculates percentage reductions across packaging &amp; supply chain.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09  •  AGENT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Compliance Agent: EU ESPR &amp; FTC Green Guides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EU ESPR Monitoring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Ecodesign for Sustainable Products Regulation audit readiness check.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FTC Green Guide Alignment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Ensures environmental claims meet US Federal Trade Commission standards.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Audit Compliance Index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Calculates dynamic compliance score (0-100%) based on verified claims ratio.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Regulatory Checklist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Flags missing mandatory quantitative proof before submission.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10  •  AGENT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Risk Agent: Misleading Claim &amp; Vague Term Detector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Vague Term Detection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Flags buzzwords like 'eco-friendly', 'green', and 'pure' without data.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Missing Baseline Flags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Detects reduction claims that lack a declared baseline year.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Greenwashing Risk Score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Objective 0-100 risk score (Low, Medium, High Risk).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Auditor Recommendations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Generates concrete corrective action steps for compliance officers.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11  • 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Centralized Overview Dashboard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Top 4 KPI Scorecards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Portfolio EcoScore, Carbon Footprint, Active Labels, SKUs.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Agent Live Status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Real-time task monitor for 4 active backend agents.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Trust &amp; Carbon Widgets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Interactive Trust Score ring &amp; 12-month carbon trend.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Upload &amp; History Card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Instant drag-and-drop PDF dropzone + upload history.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12  •  PRODUCT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Product &amp; SKU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Automated Extraction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Extracts product names &amp; SKUs directly from PDF disclosures.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Category Classification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Groups items into Electronics, Packaging, Agriculture &amp; Materials.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Carbon Impact Per Unit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Assigns estimated product carbon intensity footprint.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Verification Status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Displays Verified vs Pending review status per product.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13  •  CLAIM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NLP &amp; Keyword Claim Extraction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Exact Quote Parsing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Extracts exact environmental text snippets from disclosures.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Page Number Mapping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Pinpoints exact PDF page location for auditor inspection.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Keyword Weighting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Identifies matched terms like 'RE100', 'net zero', 'recycled'.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Confidence Scoring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Assigns AI confidence score (0-100%) to every extracted claim.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14  •  EVIDENCE VERIFIER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ISO &amp; Standards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Evidence Search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Searches quantitative data within the report to back claims.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ISO Rule Checking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Validates claims against ISO 14021 environmental self-declarations.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Rationale Generation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Generates clear AI explanation for why a claim is verified or flagged.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Verification Badge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Outputs Verified, Under Review, or Unverified status badges.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15  •  RISK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Greenwashing Risk Matrix &amp;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Risk Level Classification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Categorizes overall risk into Low, Medium, or High Risk.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Risk Driver Breakdown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Lists specific reasons (e.g. unverified packaging claim).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Missing Evidence List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Flags missing third-party certificates or audit documents.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Actionable Guidance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Provides prioritized recommendation steps for risk mitigation.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16  •  CARBON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Scope 1, 2 &amp; 3 Footprint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Scope 1 Direct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Onsite manufacturing &amp; facility emissions (kt CO2e).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Scope 2 Energy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Purchased electricity &amp; heating emissions (kt CO2e).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Scope 3 Value Chain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Raw material, freight &amp; distribution emissions (kt CO2e).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Intensity Reductions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Visual progress bars tracking YoY carbon reduction targets.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17  •  COMPLIANCE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Category Distribution &amp; Audit Index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Category Distribution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Visual breakdown of claims across Energy, Carbon, Packaging, and Supply Chain.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Audit Compliance Index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Dynamic score evaluating EU ESPR &amp; FTC Green Guide readiness.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Verification Rate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Displays percentage of total claims backed by quantitative proof.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Audit Readiness Rating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Categorizes overall audit readiness from High to Action Needed.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18  •  CERTIFICATION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Eco Label 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ISO 14064 GHG Verified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TÜV SÜD / WRI Emissions Assurance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FSC Certified Packaging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Forest Stewardship Council Chain of Custody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RE100 Renewable Power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Climate Group 100% Clean Energy Mark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EU Organic &amp; Fairtrade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European Commission &amp; Fairtrade International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19  •  EXECUTIVE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Publication-Ready A4 PDF Report Exporter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Official Letterhead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EcoLabel X header with ISO 14021 compliance seal &amp; metadata.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KPI Scorecards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Overall Trust Score, Risk Score, Claims Ratio scorecard grid.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Claims Directory Table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Complete table of verified &amp; flagged claims with PDF page numbers.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Auditor Sign-off Block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Prioritized recommendations &amp; formal auditor signature section.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20  •  ENGINEERING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Modern Full-Stack Technology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Next.js 14 App Router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React, TypeScript, Glassmorphic UI framework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FastAPI Backend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Async Python 3.10 server with Pydantic v2 schemas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 Gemini 2.5 Flash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Generative AI LLM reasoning &amp; claim analysis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PyPDF2 &amp; PDF Exporter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Raw PDF extraction &amp; A4 publication exporter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21  •  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EcoLabel X Is Unique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1.5-Second Execution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Replaces days of manual PDF auditing with instant analysis.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 Parallel AI Agents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Multi-agent architecture evaluating distinct compliance vectors.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Evidence-Backed Scoring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Every score is linked to exact text quotes and PDF page numbers.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One-Click Executive PDF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Generates publication-ready A4 executive audit reports.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22  •  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Roadmap &amp; Strategic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OCR for Scanned PDFs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Integrating Tesseract/Vision API for scanned legacy documents.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Multi-Language Support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Auditing ESG reports in German, French, Spanish &amp; Mandarin.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Live Regulatory Feeds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Real-time updates as EU ESPR &amp; FTC regulations evolve.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Enterprise Peer Benchmarking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Comparing ESG performance across industry competitors.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23  • 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Step-by-Step Live Walkthrough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1: Select &amp; Upload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Drag PDF report into dropzone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2: Instant Analysis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Backend parses PDF in &lt;1.5s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3: Dashboard Insights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Explore EcoScore &amp; Carbon Cards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4: Export Audit PDF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Download publication-ready report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ECOLABEL X  •  SLIDE 24  •  VALUE CREATED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Quantifiable Business &amp; ESG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95% Audit Time Reduction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Reduces ESG report analysis from weeks to 1.5 seconds.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 Audit Transparency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Every score is linked to exact quotes and PDF page numbers.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Zero Regulatory Penalties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Prevents costly EU ESPR &amp; FTC Green Guide non-compliance fines.</a:t>
            </a:r>
          </a:p>
        </p:txBody>
      </p:sp>
      <p:sp>
        <p:nvSpPr>
          <p:cNvPr id="607" name="Rounded Rectangle 60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Real Carbon Accountability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Accelerates genuine Scope 1-3 reduction across supply chains.</a:t>
            </a:r>
          </a:p>
        </p:txBody>
      </p:sp>
    </p:spTree>
  </p:cSld>
  <p:clrMapOvr>
    <a:masterClrMapping/>
  </p:clrMapOvr>
  <p:timing>
    <p:tnLst>
      <p:par>
        <p:cTn id="1" fill="hold" subTnLst="0" dur="indefinite">
          <p:childTnLst>
            <p:seq concurrent="1" nextAc="seek">
              <p:cTn id="104" restart="whenNotActive" fill="hold" evt="onNext" nodeType="mainSeq">
                <p:childTnLst>
                  <p:set>
                    <p:cb>
                      <p:cBhvr>
                        <p:cTn id="204" dur="1" fill="hold">
                          <p:stCondLst>
                            <p:cond delay="0"/>
                          </p:stCondLst>
                        </p:cTn>
                        <p:tgtEl>
                          <p:spTarge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305" restart="whenNotActive" fill="hold" evt="onNext" nodeType="mainSeq">
                <p:childTnLst>
                  <p:set>
                    <p:cb>
                      <p:cBhvr>
                        <p:cTn id="405" dur="1" fill="hold">
                          <p:stCondLst>
                            <p:cond delay="0"/>
                          </p:stCondLst>
                        </p:cTn>
                        <p:tgtEl>
                          <p:spTarge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506" restart="whenNotActive" fill="hold" evt="onNext" nodeType="mainSeq">
                <p:childTnLst>
                  <p:set>
                    <p:cb>
                      <p:cBhvr>
                        <p:cTn id="606" dur="1" fill="hold">
                          <p:stCondLst>
                            <p:cond delay="0"/>
                          </p:stCondLst>
                        </p:cTn>
                        <p:tgtEl>
                          <p:spTarget spid="4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  <p:seq concurrent="1" nextAc="seek">
              <p:cTn id="707" restart="whenNotActive" fill="hold" evt="onNext" nodeType="mainSeq">
                <p:childTnLst>
                  <p:set>
                    <p:cb>
                      <p:cBhvr>
                        <p:cTn id="807" dur="1" fill="hold">
                          <p:stCondLst>
                            <p:cond delay="0"/>
                          </p:stCondLst>
                        </p:cTn>
                        <p:tgtEl>
                          <p:spTarget spid="6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ue="visible"/>
                      </p:to>
                    </p:cb>
                  </p:set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5400" b="1">
                <a:solidFill>
                  <a:srgbClr val="00FFAA"/>
                </a:solidFill>
              </a:defRPr>
            </a:pPr>
            <a:r>
              <a:t>Thank You!</a:t>
            </a:r>
          </a:p>
          <a:p>
            <a:pPr algn="ctr">
              <a:spcBef>
                <a:spcPts val="1600"/>
              </a:spcBef>
              <a:defRPr sz="2000" b="1">
                <a:solidFill>
                  <a:srgbClr val="00F0FF"/>
                </a:solidFill>
              </a:defRPr>
            </a:pPr>
            <a:r>
              <a:t>EcoLabel X — Transforming Sustainability Intelligence</a:t>
            </a:r>
          </a:p>
          <a:p>
            <a:pPr algn="ctr">
              <a:spcBef>
                <a:spcPts val="2800"/>
              </a:spcBef>
              <a:defRPr sz="1300">
                <a:solidFill>
                  <a:srgbClr val="94A3B8"/>
                </a:solidFill>
              </a:defRPr>
            </a:pPr>
            <a:r>
              <a:t>🌐 Live Demo: http://localhost:3000    •    📦 GitHub: github.com/mohamedidhris777/eco-label</a:t>
            </a:r>
          </a:p>
          <a:p>
            <a:pPr algn="ctr">
              <a:spcBef>
                <a:spcPts val="3600"/>
              </a:spcBef>
              <a:defRPr sz="1200" b="1">
                <a:solidFill>
                  <a:srgbClr val="FFB300"/>
                </a:solidFill>
              </a:defRPr>
            </a:pPr>
            <a:r>
              <a:t>WE ARE NOW OPEN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